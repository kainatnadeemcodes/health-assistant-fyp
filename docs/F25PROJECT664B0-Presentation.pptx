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YQGEsWX5I6SKLlLxTiVHtoiqq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ctrTitle"/>
          </p:nvPr>
        </p:nvSpPr>
        <p:spPr>
          <a:xfrm>
            <a:off x="685800" y="16764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457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2" type="body"/>
          </p:nvPr>
        </p:nvSpPr>
        <p:spPr>
          <a:xfrm>
            <a:off x="4648200" y="1981200"/>
            <a:ext cx="4038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40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40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45" name="Google Shape;45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9pPr>
          </a:lstStyle>
          <a:p/>
        </p:txBody>
      </p:sp>
      <p:sp>
        <p:nvSpPr>
          <p:cNvPr id="46" name="Google Shape;46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4640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4pPr>
            <a:lvl5pPr indent="-294640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5pPr>
            <a:lvl6pPr indent="-294640" lvl="5" marL="27432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6pPr>
            <a:lvl7pPr indent="-294640" lvl="6" marL="32004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7pPr>
            <a:lvl8pPr indent="-294640" lvl="7" marL="36576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8pPr>
            <a:lvl9pPr indent="-294640" lvl="8" marL="4114800" algn="l">
              <a:spcBef>
                <a:spcPts val="320"/>
              </a:spcBef>
              <a:spcAft>
                <a:spcPts val="0"/>
              </a:spcAft>
              <a:buSzPts val="1040"/>
              <a:buChar char="■"/>
              <a:defRPr sz="1600"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44170" lvl="1" marL="9144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4pPr>
            <a:lvl5pPr indent="-311150" lvl="4" marL="22860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5pPr>
            <a:lvl6pPr indent="-311150" lvl="5" marL="27432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6pPr>
            <a:lvl7pPr indent="-311150" lvl="6" marL="32004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7pPr>
            <a:lvl8pPr indent="-311150" lvl="7" marL="3657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8pPr>
            <a:lvl9pPr indent="-311150" lvl="8" marL="41148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514600" y="-76200"/>
            <a:ext cx="4114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800600" y="2209800"/>
            <a:ext cx="5715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609600" y="228600"/>
            <a:ext cx="5715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302895" lvl="1" marL="914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2pPr>
            <a:lvl3pPr indent="-302895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2895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5pPr>
            <a:lvl6pPr indent="-302895" lvl="5" marL="2743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6pPr>
            <a:lvl7pPr indent="-302895" lvl="6" marL="32004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7pPr>
            <a:lvl8pPr indent="-302895" lvl="7" marL="3657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8pPr>
            <a:lvl9pPr indent="-302895" lvl="8" marL="41148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08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417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2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111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111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111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111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3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208756" y="949151"/>
            <a:ext cx="87264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AI-Powered Smart </a:t>
            </a:r>
            <a:br>
              <a:rPr lang="en-US" sz="5900"/>
            </a:br>
            <a:r>
              <a:rPr lang="en-US" sz="5900"/>
              <a:t>Health Assistant </a:t>
            </a:r>
            <a:br>
              <a:rPr lang="en-US" sz="5900"/>
            </a:br>
            <a:br>
              <a:rPr lang="en-US" sz="5900"/>
            </a:br>
            <a:endParaRPr sz="2000"/>
          </a:p>
        </p:txBody>
      </p:sp>
      <p:pic>
        <p:nvPicPr>
          <p:cNvPr descr="C:\Users\usman.waheed\Desktop\vulogo.jpg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5029200"/>
            <a:ext cx="2014538" cy="14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425001" y="3270112"/>
            <a:ext cx="629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5FFFF"/>
                </a:solidFill>
                <a:latin typeface="Tahoma"/>
                <a:ea typeface="Tahoma"/>
                <a:cs typeface="Tahoma"/>
                <a:sym typeface="Tahoma"/>
              </a:rPr>
              <a:t>An Intelligent Symptom Analysis and Preliminary Health Guidance System</a:t>
            </a:r>
            <a:endParaRPr b="0" i="0" sz="2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1024365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/>
              <a:t>Student Introduction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2555666"/>
            <a:ext cx="822960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lang="en-US"/>
              <a:t> </a:t>
            </a:r>
            <a:r>
              <a:rPr b="1" lang="en-US"/>
              <a:t>Name:</a:t>
            </a:r>
            <a:r>
              <a:rPr lang="en-US"/>
              <a:t> Kainat Nadeem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Student ID:</a:t>
            </a:r>
            <a:r>
              <a:rPr lang="en-US"/>
              <a:t> BC220422631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Program:</a:t>
            </a:r>
            <a:r>
              <a:rPr lang="en-US"/>
              <a:t> BS Software Engineering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Course:</a:t>
            </a:r>
            <a:r>
              <a:rPr lang="en-US"/>
              <a:t> CS619 Final Year Project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Char char="❖"/>
            </a:pPr>
            <a:r>
              <a:rPr b="1" lang="en-US"/>
              <a:t>Role:</a:t>
            </a:r>
            <a:r>
              <a:rPr lang="en-US"/>
              <a:t> Research, Design, Development, Testing, Documentation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762000" y="228600"/>
            <a:ext cx="752600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INTRODUCTION OF PROJECT</a:t>
            </a:r>
            <a:endParaRPr sz="4000"/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6305550"/>
            <a:ext cx="8382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239588" y="2166288"/>
            <a:ext cx="9145500" cy="5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Problem Statement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People often panic about minor symptoms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Serious symptoms are sometimes ignored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Limited access to quick preliminary health guidance</a:t>
            </a:r>
            <a:endParaRPr sz="2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Proposed Solution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AI-powered symptom analysis system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Provides preliminary health recommendations 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lang="en-US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Supports English and Urdu language</a:t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210805" y="1696883"/>
            <a:ext cx="8229600" cy="4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Accept symptom input through text or voice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Predict top 3 possible conditions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Generate triage recommendation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Suggest relevant medical specialist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Provide explainable AI output(via SHAP or TF/IDF)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S</a:t>
            </a:r>
            <a:r>
              <a:rPr lang="en-US"/>
              <a:t>up</a:t>
            </a:r>
            <a:r>
              <a:rPr lang="en-US"/>
              <a:t>port guest and registered users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Char char="❖"/>
            </a:pPr>
            <a:r>
              <a:rPr lang="en-US"/>
              <a:t>Generate downloadable PDF reports </a:t>
            </a:r>
            <a:endParaRPr/>
          </a:p>
          <a:p>
            <a:pPr indent="-210820" lvl="0" marL="342900" rtl="0" algn="l"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/>
        </p:nvSpPr>
        <p:spPr>
          <a:xfrm>
            <a:off x="1600200" y="1295400"/>
            <a:ext cx="4876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266" l="15785" r="16946" t="0"/>
          <a:stretch/>
        </p:blipFill>
        <p:spPr>
          <a:xfrm>
            <a:off x="3431967" y="1295395"/>
            <a:ext cx="5478880" cy="512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2632906" y="173826"/>
            <a:ext cx="468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Process Model</a:t>
            </a:r>
            <a:endParaRPr sz="4000">
              <a:solidFill>
                <a:schemeClr val="l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0" y="2075700"/>
            <a:ext cx="32553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Why Selected?</a:t>
            </a:r>
            <a:endParaRPr b="1"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Structured documentation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Suitable for AI experimentation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Supports iterative ML improvement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ctrTitle"/>
          </p:nvPr>
        </p:nvSpPr>
        <p:spPr>
          <a:xfrm>
            <a:off x="691732" y="365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Diagram</a:t>
            </a:r>
            <a:endParaRPr/>
          </a:p>
        </p:txBody>
      </p:sp>
      <p:pic>
        <p:nvPicPr>
          <p:cNvPr descr="AI  powered healthcare assistant-Use case Diagram.drawio (2)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1175" y="994244"/>
            <a:ext cx="5143499" cy="5735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/>
        </p:nvSpPr>
        <p:spPr>
          <a:xfrm>
            <a:off x="105000" y="1660050"/>
            <a:ext cx="32715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Actors</a:t>
            </a:r>
            <a:endParaRPr b="1"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Guest User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Registered User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Admin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AI Health Analysis System</a:t>
            </a:r>
            <a:endParaRPr sz="2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ctrTitle"/>
          </p:nvPr>
        </p:nvSpPr>
        <p:spPr>
          <a:xfrm>
            <a:off x="685800" y="5334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Rules Catalog</a:t>
            </a:r>
            <a:endParaRPr/>
          </a:p>
        </p:txBody>
      </p:sp>
      <p:sp>
        <p:nvSpPr>
          <p:cNvPr id="132" name="Google Shape;132;p8"/>
          <p:cNvSpPr txBox="1"/>
          <p:nvPr>
            <p:ph idx="1" type="subTitle"/>
          </p:nvPr>
        </p:nvSpPr>
        <p:spPr>
          <a:xfrm>
            <a:off x="1371600" y="3124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10"/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/>
        </p:nvSpPr>
        <p:spPr>
          <a:xfrm>
            <a:off x="280923" y="2374361"/>
            <a:ext cx="7814007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Core Functional Requirements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Symptom input through text and voice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AI-based condition prediction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Triage recommendation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Specialist suggestion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Consultation history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PDF report generation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Admin analytics dashboard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English and Urdu support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443511" y="-276054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Architectural Design</a:t>
            </a:r>
            <a:endParaRPr b="1" i="1"/>
          </a:p>
        </p:txBody>
      </p:sp>
      <p:sp>
        <p:nvSpPr>
          <p:cNvPr id="139" name="Google Shape;139;p9"/>
          <p:cNvSpPr/>
          <p:nvPr/>
        </p:nvSpPr>
        <p:spPr>
          <a:xfrm>
            <a:off x="0" y="13858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rchitecture Design Diagram final.drawio.png"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231" y="780252"/>
            <a:ext cx="1976438" cy="607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613900" y="1676250"/>
            <a:ext cx="44589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</a:rPr>
              <a:t>System Architecture</a:t>
            </a:r>
            <a:endParaRPr b="1"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React frontend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FastAPI backend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ML prediction engine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SQLite database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</a:pPr>
            <a:r>
              <a:rPr lang="en-US" sz="2400">
                <a:solidFill>
                  <a:schemeClr val="lt1"/>
                </a:solidFill>
              </a:rPr>
              <a:t>Explainability module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Role Distribution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457200" y="19812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21158" l="104" r="5021" t="5518"/>
          <a:stretch/>
        </p:blipFill>
        <p:spPr>
          <a:xfrm>
            <a:off x="242190" y="1473508"/>
            <a:ext cx="8675362" cy="5028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336050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Schedule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457200" y="1981200"/>
            <a:ext cx="8229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nline Gantt 20251127 (1).png"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788" y="1039796"/>
            <a:ext cx="5486401" cy="490349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 txBox="1"/>
          <p:nvPr/>
        </p:nvSpPr>
        <p:spPr>
          <a:xfrm>
            <a:off x="1828800" y="6048300"/>
            <a:ext cx="7003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Project completed in planned development phases </a:t>
            </a:r>
            <a:endParaRPr sz="20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from research to final deployment. </a:t>
            </a:r>
            <a:endParaRPr sz="20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type="ctrTitle"/>
          </p:nvPr>
        </p:nvSpPr>
        <p:spPr>
          <a:xfrm>
            <a:off x="685800" y="5475"/>
            <a:ext cx="77724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Diagram#01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Registration + Login </a:t>
            </a:r>
            <a:endParaRPr sz="2700"/>
          </a:p>
        </p:txBody>
      </p:sp>
      <p:sp>
        <p:nvSpPr>
          <p:cNvPr id="163" name="Google Shape;163;p12"/>
          <p:cNvSpPr txBox="1"/>
          <p:nvPr>
            <p:ph idx="1" type="subTitle"/>
          </p:nvPr>
        </p:nvSpPr>
        <p:spPr>
          <a:xfrm>
            <a:off x="2283263" y="1456925"/>
            <a:ext cx="76200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</p:txBody>
      </p:sp>
      <p:pic>
        <p:nvPicPr>
          <p:cNvPr descr="sequence diagram1 refined.drawio.png" id="164" name="Google Shape;1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290" y="1456926"/>
            <a:ext cx="5309419" cy="5379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Diagram#02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Symptoms → AI Prediction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quence diagram 2 final.drawio.png" id="170" name="Google Shape;170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6889" y="1918120"/>
            <a:ext cx="5050200" cy="43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3810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Model/Class Diagram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0" y="13763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ClassDiagram final.drawio.png"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500" y="914391"/>
            <a:ext cx="6172200" cy="572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/>
        </p:nvSpPr>
        <p:spPr>
          <a:xfrm>
            <a:off x="0" y="2051750"/>
            <a:ext cx="26739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Represents core entities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Shows system relationships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Supports modular design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0" y="177641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0" y="50815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 txBox="1"/>
          <p:nvPr>
            <p:ph type="title"/>
          </p:nvPr>
        </p:nvSpPr>
        <p:spPr>
          <a:xfrm>
            <a:off x="533400" y="3810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Entity-Relationship Diagram</a:t>
            </a:r>
            <a:endParaRPr/>
          </a:p>
        </p:txBody>
      </p:sp>
      <p:pic>
        <p:nvPicPr>
          <p:cNvPr descr="erd refined perfect.drawio.png" id="186" name="Google Shape;1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002" y="1618255"/>
            <a:ext cx="6172198" cy="332325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5"/>
          <p:cNvSpPr txBox="1"/>
          <p:nvPr/>
        </p:nvSpPr>
        <p:spPr>
          <a:xfrm>
            <a:off x="129250" y="2075975"/>
            <a:ext cx="2496000" cy="3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Key Tables: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Users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Consultations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❖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Feedback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ctrTitle"/>
          </p:nvPr>
        </p:nvSpPr>
        <p:spPr>
          <a:xfrm>
            <a:off x="6096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Database Diagram</a:t>
            </a:r>
            <a:endParaRPr/>
          </a:p>
        </p:txBody>
      </p:sp>
      <p:pic>
        <p:nvPicPr>
          <p:cNvPr descr="Database Design final.drawio.png" id="193" name="Google Shape;1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3590" y="1570898"/>
            <a:ext cx="7030420" cy="427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0" y="2075975"/>
            <a:ext cx="2113500" cy="3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Key Tables: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ahoma"/>
              <a:buChar char="❖"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Users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ahoma"/>
              <a:buChar char="❖"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Consultations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ahoma"/>
              <a:buChar char="❖"/>
            </a:pPr>
            <a:r>
              <a:rPr lang="en-US" sz="19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Feedback</a:t>
            </a:r>
            <a:endParaRPr sz="19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ctrTitle"/>
          </p:nvPr>
        </p:nvSpPr>
        <p:spPr>
          <a:xfrm>
            <a:off x="691732" y="5475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Interface#01</a:t>
            </a:r>
            <a:endParaRPr/>
          </a:p>
        </p:txBody>
      </p:sp>
      <p:sp>
        <p:nvSpPr>
          <p:cNvPr id="200" name="Google Shape;200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interface diagram 1 final.drawio (1).png" id="201" name="Google Shape;2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9317" y="1067713"/>
            <a:ext cx="5432743" cy="548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Interface#02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erface diagram 2 refined.drawio.png" id="207" name="Google Shape;20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696" y="1378901"/>
            <a:ext cx="4414380" cy="5100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Interface#03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nterface diagram3.drawio.png" id="213" name="Google Shape;21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672" y="1529477"/>
            <a:ext cx="3971639" cy="486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User Interface#04</a:t>
            </a:r>
            <a:endParaRPr sz="4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 interface diagram 4.drawio.png" id="219" name="Google Shape;21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425" y="1433655"/>
            <a:ext cx="3926838" cy="4853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5475" y="381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160150" y="1748751"/>
            <a:ext cx="4982946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Frontend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React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TypeScript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Tailwind CSS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974675" y="1751058"/>
            <a:ext cx="3006868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Backend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FastAPI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Python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SQLite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153671" y="3867875"/>
            <a:ext cx="3006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AI/ML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SHAP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Scikit-learn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NLTK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TF-IDF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973286" y="3873554"/>
            <a:ext cx="3260189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Development Tools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VS Code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GitHub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Postman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2007-02-24T01:41:18Z</dcterms:created>
  <dc:creator>MUHAMMAD HARIS SIDDIQUI</dc:creator>
</cp:coreProperties>
</file>